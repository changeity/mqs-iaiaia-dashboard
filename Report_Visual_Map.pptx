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ubbleChart>
        <c:varyColors val="0"/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LeaderLines val="0"/>
            </c:ext>
          </c:extLst>
        </c:dLbls>
        <c:axId val="2094734554"/>
        <c:axId val="2094734552"/>
      </c:bubble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Marquis_SNF_Automation_AI_Opportunity_Landscape.pdf (visual synthesized from p2, p8, p12, p14–p15, p22)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Marquis_SNF_Automation_AI_Opportunity_Landscape.pdf (legend reflects map structure derived from p2, p14–p15, p22)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Marquis_SNF_Automation_AI_Opportunity_Landscape.pdf (impact ranks from p2–p3; scoring derived from “ranked by operational impact” language)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Marquis_SNF_Automation_AI_Opportunity_Landscape.pdf (p2, p4, p19–p21)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Marquis_SNF_Automation_AI_Opportunity_Landscape.pdf (p2, p4, p19–p21)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Marquis_SNF_Automation_AI_Opportunity_Landscape.pdf (p2, p6–p7, p15)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Marquis_SNF_Automation_AI_Opportunity_Landscape.pdf (p2, p6–p7, p15)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Marquis_SNF_Automation_AI_Opportunity_Landscape.pdf (p10, p12–p13)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Marquis_SNF_Automation_AI_Opportunity_Landscape.pdf (p10, p12–p13)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Marquis_SNF_Automation_AI_Opportunity_Landscape.pdf (p2, p5, p12, p21)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Marquis_SNF_Automation_AI_Opportunity_Landscape.pdf (p2, p5, p12, p21)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Marquis_SNF_Automation_AI_Opportunity_Landscape.pdf (p2, p7–p8, p19–p21)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Marquis_SNF_Automation_AI_Opportunity_Landscape.pdf (p2, p7–p8, p19–p21)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SNF Automation &amp; AI Opportunity Landscape — One-page 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→ Domains → Use Cases → Outcomes/Metrics (all page refs shown inside boxes)</a:t>
            </a:r>
            <a:endParaRPr lang="en-US" sz="1100" dirty="0"/>
          </a:p>
        </p:txBody>
      </p:sp>
      <p:pic>
        <p:nvPicPr>
          <p:cNvPr id="4" name="Image 0" descr="/mnt/data/Report_Visual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976442"/>
            <a:ext cx="11548872" cy="1728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/ How to read the 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05840" cy="50292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843C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17043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20440" y="1234440"/>
            <a:ext cx="8275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+ operating model elements that enable reuse at scale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05840" cy="5029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17627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20440" y="2240280"/>
            <a:ext cx="8275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areas in the report (Admissions, RCM, Finance, Staffing, etc.)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05840" cy="50292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18211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3246120"/>
            <a:ext cx="8275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automations/AI use cases (ranked items + selected highlights)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1005840" cy="50292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418795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Outcomes/Metrics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4251960"/>
            <a:ext cx="8275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quantified claims (only if explicitly stated in the report)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596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601675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 references are shown in parentheses (e.g., “p2”).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a value is not explicit in the PDF, it is labeled “Not stated in report.”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view — Impact vs Complexity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= confidence (higher when numeric evidence is present in the report)</a:t>
            </a:r>
            <a:endParaRPr lang="en-US" sz="1100" dirty="0"/>
          </a:p>
        </p:txBody>
      </p:sp>
      <p:pic>
        <p:nvPicPr>
          <p:cNvPr id="4" name="Image 0" descr="/mnt/data/Impact_vs_Complex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760" y="1051560"/>
            <a:ext cx="8382000" cy="457200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9052560" y="5897880"/>
          <a:ext cx="292608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01 — Admissions/Referrals Intake &amp; Conversion — Before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pages: p2, p4, p19–p21</a:t>
            </a:r>
            <a:endParaRPr lang="en-US" sz="1100" dirty="0"/>
          </a:p>
        </p:txBody>
      </p:sp>
      <p:pic>
        <p:nvPicPr>
          <p:cNvPr id="4" name="Image 0" descr="/mnt/data/Workflow_01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02065"/>
            <a:ext cx="11521440" cy="54139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01 — Admissions/Referrals Intake &amp; Conversion — After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pages: p2, p4, p19–p21</a:t>
            </a:r>
            <a:endParaRPr lang="en-US" sz="1100" dirty="0"/>
          </a:p>
        </p:txBody>
      </p:sp>
      <p:pic>
        <p:nvPicPr>
          <p:cNvPr id="4" name="Image 0" descr="/mnt/data/Workflow_01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05" y="1051560"/>
            <a:ext cx="99377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02 — Staffing/Scheduling &amp; Agency Reduction — Before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pages: p2, p6–p7, p15</a:t>
            </a:r>
            <a:endParaRPr lang="en-US" sz="1100" dirty="0"/>
          </a:p>
        </p:txBody>
      </p:sp>
      <p:pic>
        <p:nvPicPr>
          <p:cNvPr id="4" name="Image 0" descr="/mnt/data/Workflow_02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612161"/>
            <a:ext cx="11521440" cy="25937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02 — Staffing/Scheduling &amp; Agency Reduction — After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pages: p2, p6–p7, p15</a:t>
            </a:r>
            <a:endParaRPr lang="en-US" sz="1100" dirty="0"/>
          </a:p>
        </p:txBody>
      </p:sp>
      <p:pic>
        <p:nvPicPr>
          <p:cNvPr id="4" name="Image 0" descr="/mnt/data/Workflow_02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05826"/>
            <a:ext cx="11521440" cy="24064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03 — Clinical Safety: Falls/Deterioration Response — Before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pages: p10, p12–p13</a:t>
            </a:r>
            <a:endParaRPr lang="en-US" sz="1100" dirty="0"/>
          </a:p>
        </p:txBody>
      </p:sp>
      <p:pic>
        <p:nvPicPr>
          <p:cNvPr id="4" name="Image 0" descr="/mnt/data/Workflow_03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42057"/>
            <a:ext cx="11521440" cy="47340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03 — Clinical Safety: Falls/Deterioration Response — After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pages: p10, p12–p13</a:t>
            </a:r>
            <a:endParaRPr lang="en-US" sz="1100" dirty="0"/>
          </a:p>
        </p:txBody>
      </p:sp>
      <p:pic>
        <p:nvPicPr>
          <p:cNvPr id="4" name="Image 0" descr="/mnt/data/Workflow_03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39186"/>
            <a:ext cx="11521440" cy="29397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04 — Documentation/Admin Automation (Orders + Chart/MDS) — Before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pages: p2, p5, p12, p21</a:t>
            </a:r>
            <a:endParaRPr lang="en-US" sz="1100" dirty="0"/>
          </a:p>
        </p:txBody>
      </p:sp>
      <p:pic>
        <p:nvPicPr>
          <p:cNvPr id="4" name="Image 0" descr="/mnt/data/Workflow_04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82755"/>
            <a:ext cx="11521440" cy="26526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04 — Documentation/Admin Automation (Orders + Chart/MDS) — After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pages: p2, p5, p12, p21</a:t>
            </a:r>
            <a:endParaRPr lang="en-US" sz="1100" dirty="0"/>
          </a:p>
        </p:txBody>
      </p:sp>
      <p:pic>
        <p:nvPicPr>
          <p:cNvPr id="4" name="Image 0" descr="/mnt/data/Workflow_04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90882"/>
            <a:ext cx="11521440" cy="36363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05 — AP/Invoice Processing Automation — Before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pages: p2, p7–p8, p19–p21</a:t>
            </a:r>
            <a:endParaRPr lang="en-US" sz="1100" dirty="0"/>
          </a:p>
        </p:txBody>
      </p:sp>
      <p:pic>
        <p:nvPicPr>
          <p:cNvPr id="4" name="Image 0" descr="/mnt/data/Workflow_05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432" y="1051560"/>
            <a:ext cx="1005009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05 — AP/Invoice Processing Automation — After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pages: p2, p7–p8, p19–p21</a:t>
            </a:r>
            <a:endParaRPr lang="en-US" sz="1100" dirty="0"/>
          </a:p>
        </p:txBody>
      </p:sp>
      <p:pic>
        <p:nvPicPr>
          <p:cNvPr id="4" name="Image 0" descr="/mnt/data/Workflow_05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415121"/>
            <a:ext cx="11521440" cy="29878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Marquis Health Services (source report)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SNF Automation &amp; AI Opportunity Landscape — Visuals</dc:title>
  <dc:subject>Visual map + workflow diagrams (PDF-derived)</dc:subject>
  <dc:creator>SNF AI Report Explorer</dc:creator>
  <cp:lastModifiedBy>SNF AI Report Explorer</cp:lastModifiedBy>
  <cp:revision>1</cp:revision>
  <dcterms:created xsi:type="dcterms:W3CDTF">2025-12-24T00:42:29Z</dcterms:created>
  <dcterms:modified xsi:type="dcterms:W3CDTF">2025-12-24T00:42:29Z</dcterms:modified>
</cp:coreProperties>
</file>